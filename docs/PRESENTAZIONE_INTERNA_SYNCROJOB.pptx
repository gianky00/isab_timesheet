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5" r:id="rId4"/>
    <p:sldId id="259" r:id="rId5"/>
    <p:sldId id="261" r:id="rId6"/>
    <p:sldId id="262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470025"/>
          </a:xfrm>
        </p:spPr>
        <p:txBody>
          <a:bodyPr/>
          <a:lstStyle/>
          <a:p>
            <a:r>
              <a:rPr dirty="0" err="1"/>
              <a:t>SyncroJo</a:t>
            </a:r>
            <a:r>
              <a:rPr lang="it-IT" dirty="0"/>
              <a:t>b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322294"/>
            <a:ext cx="6400800" cy="1752600"/>
          </a:xfrm>
        </p:spPr>
        <p:txBody>
          <a:bodyPr>
            <a:normAutofit fontScale="85000" lnSpcReduction="10000"/>
          </a:bodyPr>
          <a:lstStyle/>
          <a:p>
            <a:r>
              <a:rPr dirty="0" err="1"/>
              <a:t>Piattaforma</a:t>
            </a:r>
            <a:r>
              <a:rPr dirty="0"/>
              <a:t> </a:t>
            </a:r>
            <a:r>
              <a:rPr dirty="0" err="1"/>
              <a:t>Interna</a:t>
            </a:r>
            <a:r>
              <a:rPr dirty="0"/>
              <a:t> di </a:t>
            </a:r>
            <a:r>
              <a:rPr dirty="0" err="1"/>
              <a:t>Automazione</a:t>
            </a:r>
            <a:r>
              <a:rPr dirty="0"/>
              <a:t> RPA &amp; </a:t>
            </a:r>
            <a:r>
              <a:rPr dirty="0" err="1"/>
              <a:t>Archiviazione</a:t>
            </a:r>
            <a:r>
              <a:rPr dirty="0"/>
              <a:t> </a:t>
            </a:r>
            <a:r>
              <a:rPr dirty="0" err="1"/>
              <a:t>Dati</a:t>
            </a:r>
            <a:endParaRPr dirty="0"/>
          </a:p>
          <a:p>
            <a:endParaRPr dirty="0"/>
          </a:p>
          <a:p>
            <a:r>
              <a:rPr dirty="0" err="1"/>
              <a:t>Ottimizzazione</a:t>
            </a:r>
            <a:r>
              <a:rPr dirty="0"/>
              <a:t>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Flussi</a:t>
            </a:r>
            <a:r>
              <a:rPr dirty="0"/>
              <a:t> Verso </a:t>
            </a:r>
            <a:r>
              <a:rPr dirty="0" err="1"/>
              <a:t>Portali</a:t>
            </a:r>
            <a:r>
              <a:rPr dirty="0"/>
              <a:t> ISAB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dirty="0"/>
              <a:t>Il </a:t>
            </a:r>
            <a:r>
              <a:rPr sz="3200" dirty="0" err="1"/>
              <a:t>Contesto</a:t>
            </a:r>
            <a:r>
              <a:rPr sz="3200" dirty="0"/>
              <a:t>: I </a:t>
            </a:r>
            <a:r>
              <a:rPr sz="3200" dirty="0" err="1"/>
              <a:t>Limiti</a:t>
            </a:r>
            <a:r>
              <a:rPr sz="3200" dirty="0"/>
              <a:t> </a:t>
            </a:r>
            <a:r>
              <a:rPr sz="3200" dirty="0" err="1"/>
              <a:t>dell'Operatività</a:t>
            </a:r>
            <a:r>
              <a:rPr sz="3200" dirty="0"/>
              <a:t> </a:t>
            </a:r>
            <a:r>
              <a:rPr sz="3200" dirty="0" err="1"/>
              <a:t>Manuale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 err="1"/>
              <a:t>L'interazione</a:t>
            </a:r>
            <a:r>
              <a:rPr sz="2000" dirty="0"/>
              <a:t> </a:t>
            </a:r>
            <a:r>
              <a:rPr sz="2000" dirty="0" err="1"/>
              <a:t>quotidiana</a:t>
            </a:r>
            <a:r>
              <a:rPr sz="2000" dirty="0"/>
              <a:t> con </a:t>
            </a:r>
            <a:r>
              <a:rPr sz="2000" dirty="0" err="1"/>
              <a:t>i</a:t>
            </a:r>
            <a:r>
              <a:rPr sz="2000" dirty="0"/>
              <a:t> </a:t>
            </a:r>
            <a:r>
              <a:rPr sz="2000" dirty="0" err="1"/>
              <a:t>portali</a:t>
            </a:r>
            <a:r>
              <a:rPr sz="2000" dirty="0"/>
              <a:t> </a:t>
            </a:r>
            <a:r>
              <a:rPr sz="2000" dirty="0" err="1"/>
              <a:t>cliente</a:t>
            </a:r>
            <a:r>
              <a:rPr sz="2000" dirty="0"/>
              <a:t> (ISAB, SafeWork) </a:t>
            </a:r>
            <a:r>
              <a:rPr sz="2000" dirty="0" err="1"/>
              <a:t>richiedeva</a:t>
            </a:r>
            <a:r>
              <a:rPr sz="2000" dirty="0"/>
              <a:t> un </a:t>
            </a:r>
            <a:r>
              <a:rPr lang="it-IT" sz="2000" dirty="0"/>
              <a:t>alto</a:t>
            </a:r>
            <a:r>
              <a:rPr sz="2000" dirty="0"/>
              <a:t> volume di </a:t>
            </a:r>
            <a:r>
              <a:rPr sz="2000" dirty="0" err="1"/>
              <a:t>lavoro</a:t>
            </a:r>
            <a:r>
              <a:rPr sz="2000" dirty="0"/>
              <a:t> </a:t>
            </a:r>
            <a:r>
              <a:rPr sz="2000" dirty="0" err="1"/>
              <a:t>manuale</a:t>
            </a:r>
            <a:r>
              <a:rPr sz="2000" dirty="0"/>
              <a:t>, </a:t>
            </a:r>
            <a:r>
              <a:rPr sz="2000" dirty="0" err="1"/>
              <a:t>caratterizzato</a:t>
            </a:r>
            <a:r>
              <a:rPr sz="2000" dirty="0"/>
              <a:t> da:</a:t>
            </a:r>
          </a:p>
          <a:p>
            <a:pPr marL="457200" lvl="1" indent="0">
              <a:buNone/>
            </a:pPr>
            <a:r>
              <a:rPr sz="2000" dirty="0"/>
              <a:t>• Tempi di </a:t>
            </a:r>
            <a:r>
              <a:rPr sz="2000" dirty="0" err="1"/>
              <a:t>Scarto</a:t>
            </a:r>
            <a:r>
              <a:rPr sz="2000" dirty="0"/>
              <a:t> </a:t>
            </a:r>
            <a:r>
              <a:rPr sz="2000" dirty="0" err="1"/>
              <a:t>Logistici</a:t>
            </a:r>
            <a:r>
              <a:rPr sz="2000" dirty="0"/>
              <a:t>: </a:t>
            </a:r>
            <a:r>
              <a:rPr sz="2000" dirty="0" err="1"/>
              <a:t>Interfacce</a:t>
            </a:r>
            <a:r>
              <a:rPr sz="2000" dirty="0"/>
              <a:t> web </a:t>
            </a:r>
            <a:r>
              <a:rPr sz="2000" dirty="0" err="1"/>
              <a:t>esterne</a:t>
            </a:r>
            <a:r>
              <a:rPr sz="2000" dirty="0"/>
              <a:t> </a:t>
            </a:r>
            <a:r>
              <a:rPr sz="2000" dirty="0" err="1"/>
              <a:t>lente</a:t>
            </a:r>
            <a:r>
              <a:rPr sz="2000" dirty="0"/>
              <a:t>.</a:t>
            </a:r>
          </a:p>
          <a:p>
            <a:pPr marL="457200" lvl="1" indent="0">
              <a:buNone/>
            </a:pPr>
            <a:r>
              <a:rPr lang="it-IT" sz="2000" dirty="0"/>
              <a:t>•</a:t>
            </a:r>
            <a:r>
              <a:rPr sz="2000" dirty="0"/>
              <a:t> </a:t>
            </a:r>
            <a:r>
              <a:rPr sz="2000" dirty="0" err="1"/>
              <a:t>Frammentazione</a:t>
            </a:r>
            <a:r>
              <a:rPr sz="2000" dirty="0"/>
              <a:t> del Dato: </a:t>
            </a:r>
            <a:r>
              <a:rPr sz="2000" dirty="0" err="1"/>
              <a:t>Informazioni</a:t>
            </a:r>
            <a:r>
              <a:rPr sz="2000" dirty="0"/>
              <a:t> disperse in e-mail.</a:t>
            </a:r>
          </a:p>
          <a:p>
            <a:pPr marL="457200" lvl="1" indent="0">
              <a:buNone/>
            </a:pPr>
            <a:r>
              <a:rPr sz="2000" dirty="0"/>
              <a:t>• </a:t>
            </a:r>
            <a:r>
              <a:rPr sz="2000" dirty="0" err="1"/>
              <a:t>Rischio</a:t>
            </a:r>
            <a:r>
              <a:rPr sz="2000" dirty="0"/>
              <a:t> </a:t>
            </a:r>
            <a:r>
              <a:rPr sz="2000" dirty="0" err="1"/>
              <a:t>Umano</a:t>
            </a:r>
            <a:r>
              <a:rPr sz="2000" dirty="0"/>
              <a:t>:</a:t>
            </a:r>
            <a:r>
              <a:rPr lang="it-IT" sz="2000" dirty="0"/>
              <a:t> </a:t>
            </a:r>
            <a:r>
              <a:rPr sz="2000" dirty="0"/>
              <a:t>un </a:t>
            </a:r>
            <a:r>
              <a:rPr sz="2000" dirty="0" err="1"/>
              <a:t>singolo</a:t>
            </a:r>
            <a:r>
              <a:rPr sz="2000" dirty="0"/>
              <a:t> </a:t>
            </a:r>
            <a:r>
              <a:rPr sz="2000" dirty="0" err="1"/>
              <a:t>errore</a:t>
            </a:r>
            <a:r>
              <a:rPr sz="2000" dirty="0"/>
              <a:t> </a:t>
            </a:r>
            <a:r>
              <a:rPr lang="it-IT" sz="2000" dirty="0"/>
              <a:t>creava discrepanze sui dati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 err="1"/>
              <a:t>Analisi</a:t>
            </a:r>
            <a:r>
              <a:rPr sz="3200" dirty="0"/>
              <a:t> del </a:t>
            </a:r>
            <a:r>
              <a:rPr sz="3200" dirty="0" err="1"/>
              <a:t>Problema</a:t>
            </a:r>
            <a:r>
              <a:rPr sz="3200" dirty="0"/>
              <a:t> </a:t>
            </a:r>
            <a:r>
              <a:rPr sz="3200" dirty="0" err="1"/>
              <a:t>Operativo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La </a:t>
            </a:r>
            <a:r>
              <a:rPr sz="2000" dirty="0" err="1"/>
              <a:t>gestione</a:t>
            </a:r>
            <a:r>
              <a:rPr sz="2000" dirty="0"/>
              <a:t> </a:t>
            </a:r>
            <a:r>
              <a:rPr sz="2000" dirty="0" err="1"/>
              <a:t>quotidiana</a:t>
            </a:r>
            <a:r>
              <a:rPr sz="2000" dirty="0"/>
              <a:t> </a:t>
            </a:r>
            <a:r>
              <a:rPr sz="2000" dirty="0" err="1"/>
              <a:t>delle</a:t>
            </a:r>
            <a:r>
              <a:rPr sz="2000" dirty="0"/>
              <a:t> </a:t>
            </a:r>
            <a:r>
              <a:rPr sz="2000" dirty="0" err="1"/>
              <a:t>commesse</a:t>
            </a:r>
            <a:r>
              <a:rPr sz="2000" dirty="0"/>
              <a:t> </a:t>
            </a:r>
            <a:r>
              <a:rPr sz="2000" dirty="0" err="1"/>
              <a:t>subiva</a:t>
            </a:r>
            <a:r>
              <a:rPr sz="2000" dirty="0"/>
              <a:t> </a:t>
            </a:r>
            <a:r>
              <a:rPr sz="2000" dirty="0" err="1"/>
              <a:t>colli</a:t>
            </a:r>
            <a:r>
              <a:rPr sz="2000" dirty="0"/>
              <a:t> di </a:t>
            </a:r>
            <a:r>
              <a:rPr sz="2000" dirty="0" err="1"/>
              <a:t>bottiglia</a:t>
            </a:r>
            <a:r>
              <a:rPr sz="2000" dirty="0"/>
              <a:t> </a:t>
            </a:r>
            <a:r>
              <a:rPr sz="2000" dirty="0" err="1"/>
              <a:t>causati</a:t>
            </a:r>
            <a:r>
              <a:rPr sz="2000" dirty="0"/>
              <a:t> da: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 err="1"/>
              <a:t>Erosione</a:t>
            </a:r>
            <a:r>
              <a:rPr sz="2000" dirty="0"/>
              <a:t> del Tempo </a:t>
            </a:r>
            <a:r>
              <a:rPr sz="2000" dirty="0" err="1"/>
              <a:t>Lavoro</a:t>
            </a:r>
            <a:r>
              <a:rPr sz="2000" dirty="0"/>
              <a:t>: </a:t>
            </a:r>
            <a:r>
              <a:rPr sz="2000" dirty="0" err="1"/>
              <a:t>Interfaccia</a:t>
            </a:r>
            <a:r>
              <a:rPr sz="2000" dirty="0"/>
              <a:t> </a:t>
            </a:r>
            <a:r>
              <a:rPr sz="2000" dirty="0" err="1"/>
              <a:t>utente</a:t>
            </a:r>
            <a:r>
              <a:rPr sz="2000" dirty="0"/>
              <a:t> </a:t>
            </a:r>
            <a:r>
              <a:rPr sz="2000" dirty="0" err="1"/>
              <a:t>dei</a:t>
            </a:r>
            <a:r>
              <a:rPr sz="2000" dirty="0"/>
              <a:t> </a:t>
            </a:r>
            <a:r>
              <a:rPr sz="2000" dirty="0" err="1"/>
              <a:t>portali</a:t>
            </a:r>
            <a:r>
              <a:rPr sz="2000" dirty="0"/>
              <a:t> </a:t>
            </a:r>
            <a:r>
              <a:rPr sz="2000" dirty="0" err="1"/>
              <a:t>cliente</a:t>
            </a:r>
            <a:r>
              <a:rPr sz="2000" dirty="0"/>
              <a:t> (ISAB, SafeWork) non </a:t>
            </a:r>
            <a:r>
              <a:rPr sz="2000" dirty="0" err="1"/>
              <a:t>progettata</a:t>
            </a:r>
            <a:r>
              <a:rPr sz="2000" dirty="0"/>
              <a:t> per </a:t>
            </a:r>
            <a:r>
              <a:rPr sz="2000" dirty="0" err="1"/>
              <a:t>flussi</a:t>
            </a:r>
            <a:r>
              <a:rPr sz="2000" dirty="0"/>
              <a:t> batch, </a:t>
            </a:r>
            <a:r>
              <a:rPr sz="2000" dirty="0" err="1"/>
              <a:t>obbligando</a:t>
            </a:r>
            <a:r>
              <a:rPr sz="2000" dirty="0"/>
              <a:t> </a:t>
            </a:r>
            <a:r>
              <a:rPr sz="2000" dirty="0" err="1"/>
              <a:t>gli</a:t>
            </a:r>
            <a:r>
              <a:rPr sz="2000" dirty="0"/>
              <a:t> </a:t>
            </a:r>
            <a:r>
              <a:rPr sz="2000" dirty="0" err="1"/>
              <a:t>operatori</a:t>
            </a:r>
            <a:r>
              <a:rPr sz="2000" dirty="0"/>
              <a:t> a procedure 'click by click'.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 err="1"/>
              <a:t>Mancanza</a:t>
            </a:r>
            <a:r>
              <a:rPr sz="2000" dirty="0"/>
              <a:t> di </a:t>
            </a:r>
            <a:r>
              <a:rPr sz="2000" dirty="0" err="1"/>
              <a:t>Centralizzazione</a:t>
            </a:r>
            <a:r>
              <a:rPr sz="2000" dirty="0"/>
              <a:t>: </a:t>
            </a:r>
            <a:r>
              <a:rPr sz="2000" dirty="0" err="1"/>
              <a:t>Informazioni</a:t>
            </a:r>
            <a:r>
              <a:rPr sz="2000" dirty="0"/>
              <a:t> di </a:t>
            </a:r>
            <a:r>
              <a:rPr sz="2000" dirty="0" err="1"/>
              <a:t>cantiere</a:t>
            </a:r>
            <a:r>
              <a:rPr sz="2000" dirty="0"/>
              <a:t> disperse in </a:t>
            </a:r>
            <a:r>
              <a:rPr sz="2000" dirty="0" err="1"/>
              <a:t>archivi</a:t>
            </a:r>
            <a:r>
              <a:rPr sz="2000" dirty="0"/>
              <a:t> </a:t>
            </a:r>
            <a:r>
              <a:rPr sz="2000" dirty="0" err="1"/>
              <a:t>frammentati</a:t>
            </a:r>
            <a:r>
              <a:rPr sz="2000" dirty="0"/>
              <a:t> (email, chat, </a:t>
            </a:r>
            <a:r>
              <a:rPr sz="2000" dirty="0" err="1"/>
              <a:t>cartelle</a:t>
            </a:r>
            <a:r>
              <a:rPr sz="2000" dirty="0"/>
              <a:t> </a:t>
            </a:r>
            <a:r>
              <a:rPr sz="2000" dirty="0" err="1"/>
              <a:t>locali</a:t>
            </a:r>
            <a:r>
              <a:rPr sz="2000" dirty="0"/>
              <a:t> </a:t>
            </a:r>
            <a:r>
              <a:rPr sz="2000" dirty="0" err="1"/>
              <a:t>disconnesse</a:t>
            </a:r>
            <a:r>
              <a:rPr sz="2000" dirty="0"/>
              <a:t>), con grave </a:t>
            </a:r>
            <a:r>
              <a:rPr sz="2000" dirty="0" err="1"/>
              <a:t>rischio</a:t>
            </a:r>
            <a:r>
              <a:rPr sz="2000" dirty="0"/>
              <a:t> di </a:t>
            </a:r>
            <a:r>
              <a:rPr sz="2000" dirty="0" err="1"/>
              <a:t>perdita</a:t>
            </a:r>
            <a:r>
              <a:rPr sz="2000" dirty="0"/>
              <a:t> del know-how </a:t>
            </a:r>
            <a:r>
              <a:rPr sz="2000" dirty="0" err="1"/>
              <a:t>aziendale</a:t>
            </a:r>
            <a:r>
              <a:rPr sz="20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Alta </a:t>
            </a:r>
            <a:r>
              <a:rPr sz="2000" dirty="0" err="1"/>
              <a:t>Incidenza</a:t>
            </a:r>
            <a:r>
              <a:rPr sz="2000" dirty="0"/>
              <a:t> </a:t>
            </a:r>
            <a:r>
              <a:rPr sz="2000" dirty="0" err="1"/>
              <a:t>dell'Errore</a:t>
            </a:r>
            <a:r>
              <a:rPr sz="2000" dirty="0"/>
              <a:t> </a:t>
            </a:r>
            <a:r>
              <a:rPr sz="2000" dirty="0" err="1"/>
              <a:t>Umano</a:t>
            </a:r>
            <a:r>
              <a:rPr sz="2000" dirty="0"/>
              <a:t>: </a:t>
            </a:r>
            <a:r>
              <a:rPr sz="2000" dirty="0" err="1"/>
              <a:t>L'elevato</a:t>
            </a:r>
            <a:r>
              <a:rPr sz="2000" dirty="0"/>
              <a:t> volume di data-entry </a:t>
            </a:r>
            <a:r>
              <a:rPr sz="2000" dirty="0" err="1"/>
              <a:t>burocratico</a:t>
            </a:r>
            <a:r>
              <a:rPr sz="2000" dirty="0"/>
              <a:t> </a:t>
            </a:r>
            <a:r>
              <a:rPr sz="2000" dirty="0" err="1"/>
              <a:t>aumentava</a:t>
            </a:r>
            <a:r>
              <a:rPr sz="2000" dirty="0"/>
              <a:t> </a:t>
            </a:r>
            <a:r>
              <a:rPr sz="2000" dirty="0" err="1"/>
              <a:t>fisiologicamente</a:t>
            </a:r>
            <a:r>
              <a:rPr sz="2000" dirty="0"/>
              <a:t> </a:t>
            </a:r>
            <a:r>
              <a:rPr sz="2000" dirty="0" err="1"/>
              <a:t>il</a:t>
            </a:r>
            <a:r>
              <a:rPr sz="2000" dirty="0"/>
              <a:t> </a:t>
            </a:r>
            <a:r>
              <a:rPr sz="2000" dirty="0" err="1"/>
              <a:t>tasso</a:t>
            </a:r>
            <a:r>
              <a:rPr sz="2000" dirty="0"/>
              <a:t> di </a:t>
            </a:r>
            <a:r>
              <a:rPr sz="2000" dirty="0" err="1"/>
              <a:t>errore</a:t>
            </a:r>
            <a:r>
              <a:rPr sz="2000" dirty="0"/>
              <a:t> </a:t>
            </a:r>
            <a:r>
              <a:rPr sz="2000" dirty="0" err="1"/>
              <a:t>portando</a:t>
            </a:r>
            <a:r>
              <a:rPr sz="2000" dirty="0"/>
              <a:t> a </a:t>
            </a:r>
            <a:r>
              <a:rPr sz="2000" dirty="0" err="1"/>
              <a:t>scarti</a:t>
            </a:r>
            <a:r>
              <a:rPr sz="2000" dirty="0"/>
              <a:t> e </a:t>
            </a:r>
            <a:r>
              <a:rPr sz="2000" dirty="0" err="1"/>
              <a:t>ritardi</a:t>
            </a:r>
            <a:r>
              <a:rPr sz="2000" dirty="0"/>
              <a:t> </a:t>
            </a:r>
            <a:r>
              <a:rPr sz="2000" dirty="0" err="1"/>
              <a:t>nei</a:t>
            </a:r>
            <a:r>
              <a:rPr sz="2000" dirty="0"/>
              <a:t> </a:t>
            </a:r>
            <a:r>
              <a:rPr sz="2000" dirty="0" err="1"/>
              <a:t>flussi</a:t>
            </a:r>
            <a:r>
              <a:rPr sz="2000" dirty="0"/>
              <a:t> di </a:t>
            </a:r>
            <a:r>
              <a:rPr sz="2000" dirty="0" err="1"/>
              <a:t>fatturazione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La </a:t>
            </a:r>
            <a:r>
              <a:rPr sz="3200" dirty="0" err="1"/>
              <a:t>Soluzione</a:t>
            </a:r>
            <a:r>
              <a:rPr sz="3200" dirty="0"/>
              <a:t>: </a:t>
            </a:r>
            <a:r>
              <a:rPr sz="3200" dirty="0" err="1"/>
              <a:t>Architettura</a:t>
            </a:r>
            <a:r>
              <a:rPr sz="3200" dirty="0"/>
              <a:t> RPA (Bot)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 err="1"/>
              <a:t>SyncroJob</a:t>
            </a:r>
            <a:r>
              <a:rPr sz="2000" dirty="0"/>
              <a:t> è </a:t>
            </a:r>
            <a:r>
              <a:rPr sz="2000" dirty="0" err="1"/>
              <a:t>stato</a:t>
            </a:r>
            <a:r>
              <a:rPr sz="2000" dirty="0"/>
              <a:t> </a:t>
            </a:r>
            <a:r>
              <a:rPr sz="2000" dirty="0" err="1"/>
              <a:t>progettato</a:t>
            </a:r>
            <a:r>
              <a:rPr sz="2000" dirty="0"/>
              <a:t> </a:t>
            </a:r>
            <a:r>
              <a:rPr sz="2000" dirty="0" err="1"/>
              <a:t>internamente</a:t>
            </a:r>
            <a:r>
              <a:rPr sz="2000" dirty="0"/>
              <a:t> come un </a:t>
            </a:r>
            <a:r>
              <a:rPr sz="2000" dirty="0" err="1"/>
              <a:t>sistema</a:t>
            </a:r>
            <a:r>
              <a:rPr sz="2000" dirty="0"/>
              <a:t> RPA (Robotic Process Automation) </a:t>
            </a:r>
            <a:r>
              <a:rPr sz="2000" dirty="0" err="1"/>
              <a:t>che</a:t>
            </a:r>
            <a:r>
              <a:rPr sz="2000" dirty="0"/>
              <a:t>:</a:t>
            </a:r>
            <a:endParaRPr lang="it-IT" sz="2000" dirty="0"/>
          </a:p>
          <a:p>
            <a:r>
              <a:rPr sz="2000" dirty="0" err="1"/>
              <a:t>Sostituisce</a:t>
            </a:r>
            <a:r>
              <a:rPr sz="2000" dirty="0"/>
              <a:t> </a:t>
            </a:r>
            <a:r>
              <a:rPr sz="2000" dirty="0" err="1"/>
              <a:t>l'operatore</a:t>
            </a:r>
            <a:r>
              <a:rPr sz="2000" dirty="0"/>
              <a:t> </a:t>
            </a:r>
            <a:r>
              <a:rPr sz="2000" dirty="0" err="1"/>
              <a:t>umano</a:t>
            </a:r>
            <a:r>
              <a:rPr sz="2000" dirty="0"/>
              <a:t> </a:t>
            </a:r>
            <a:r>
              <a:rPr sz="2000" dirty="0" err="1"/>
              <a:t>nelle</a:t>
            </a:r>
            <a:r>
              <a:rPr sz="2000" dirty="0"/>
              <a:t> </a:t>
            </a:r>
            <a:r>
              <a:rPr sz="2000" dirty="0" err="1"/>
              <a:t>interazioni</a:t>
            </a:r>
            <a:r>
              <a:rPr sz="2000" dirty="0"/>
              <a:t> massive e </a:t>
            </a:r>
            <a:r>
              <a:rPr sz="2000" dirty="0" err="1"/>
              <a:t>ripetitive</a:t>
            </a:r>
            <a:r>
              <a:rPr sz="2000" dirty="0"/>
              <a:t> con </a:t>
            </a:r>
            <a:r>
              <a:rPr sz="2000" dirty="0" err="1"/>
              <a:t>i</a:t>
            </a:r>
            <a:r>
              <a:rPr sz="2000" dirty="0"/>
              <a:t> </a:t>
            </a:r>
            <a:r>
              <a:rPr lang="it-IT" sz="2000" dirty="0"/>
              <a:t>  </a:t>
            </a:r>
            <a:r>
              <a:rPr sz="2000" dirty="0" err="1"/>
              <a:t>portali</a:t>
            </a:r>
            <a:r>
              <a:rPr lang="it-IT" sz="2000" dirty="0"/>
              <a:t> (SafeWork e Portale Fornitori)</a:t>
            </a:r>
            <a:r>
              <a:rPr sz="2000" dirty="0"/>
              <a:t>.</a:t>
            </a:r>
            <a:endParaRPr lang="it-IT" sz="2000" dirty="0"/>
          </a:p>
          <a:p>
            <a:r>
              <a:rPr lang="it-IT" sz="2000" dirty="0"/>
              <a:t>E</a:t>
            </a:r>
            <a:r>
              <a:rPr sz="2000" dirty="0"/>
              <a:t>segue script di </a:t>
            </a:r>
            <a:r>
              <a:rPr sz="2000" dirty="0" err="1"/>
              <a:t>navigazione</a:t>
            </a:r>
            <a:r>
              <a:rPr sz="2000" dirty="0"/>
              <a:t> (</a:t>
            </a:r>
            <a:r>
              <a:rPr sz="2000" dirty="0" err="1"/>
              <a:t>scarico</a:t>
            </a:r>
            <a:r>
              <a:rPr sz="2000" dirty="0"/>
              <a:t> </a:t>
            </a:r>
            <a:r>
              <a:rPr sz="2000" dirty="0" err="1"/>
              <a:t>documenti</a:t>
            </a:r>
            <a:r>
              <a:rPr sz="2000" dirty="0"/>
              <a:t>, </a:t>
            </a:r>
            <a:r>
              <a:rPr sz="2000" dirty="0" err="1"/>
              <a:t>estrazione</a:t>
            </a:r>
            <a:r>
              <a:rPr sz="2000" dirty="0"/>
              <a:t> </a:t>
            </a:r>
            <a:r>
              <a:rPr sz="2000" dirty="0" err="1"/>
              <a:t>griglie</a:t>
            </a:r>
            <a:r>
              <a:rPr sz="2000" dirty="0"/>
              <a:t> </a:t>
            </a:r>
            <a:r>
              <a:rPr sz="2000" dirty="0" err="1"/>
              <a:t>dati</a:t>
            </a:r>
            <a:r>
              <a:rPr sz="2000" dirty="0"/>
              <a:t>) </a:t>
            </a:r>
            <a:r>
              <a:rPr sz="2000" dirty="0" err="1"/>
              <a:t>mascherati</a:t>
            </a:r>
            <a:r>
              <a:rPr sz="2000" dirty="0"/>
              <a:t> da </a:t>
            </a:r>
            <a:r>
              <a:rPr sz="2000" dirty="0" err="1"/>
              <a:t>interazioni</a:t>
            </a:r>
            <a:r>
              <a:rPr sz="2000" dirty="0"/>
              <a:t> </a:t>
            </a:r>
            <a:r>
              <a:rPr sz="2000" dirty="0" err="1"/>
              <a:t>legittime</a:t>
            </a:r>
            <a:r>
              <a:rPr sz="2000" dirty="0"/>
              <a:t>, </a:t>
            </a:r>
            <a:r>
              <a:rPr sz="2000" dirty="0" err="1"/>
              <a:t>lavorando</a:t>
            </a:r>
            <a:r>
              <a:rPr sz="2000" dirty="0"/>
              <a:t> in background.</a:t>
            </a:r>
            <a:endParaRPr lang="it-IT" sz="2000" dirty="0"/>
          </a:p>
          <a:p>
            <a:r>
              <a:rPr sz="2000" dirty="0" err="1"/>
              <a:t>Gestisce</a:t>
            </a:r>
            <a:r>
              <a:rPr sz="2000" dirty="0"/>
              <a:t> </a:t>
            </a:r>
            <a:r>
              <a:rPr sz="2000" dirty="0" err="1"/>
              <a:t>i</a:t>
            </a:r>
            <a:r>
              <a:rPr sz="2000" dirty="0"/>
              <a:t> timeout e le </a:t>
            </a:r>
            <a:r>
              <a:rPr sz="2000" dirty="0" err="1"/>
              <a:t>cadute</a:t>
            </a:r>
            <a:r>
              <a:rPr sz="2000" dirty="0"/>
              <a:t> di rete </a:t>
            </a:r>
            <a:r>
              <a:rPr sz="2000" dirty="0" err="1"/>
              <a:t>dei</a:t>
            </a:r>
            <a:r>
              <a:rPr sz="2000" dirty="0"/>
              <a:t> </a:t>
            </a:r>
            <a:r>
              <a:rPr sz="2000" dirty="0" err="1"/>
              <a:t>portali</a:t>
            </a:r>
            <a:r>
              <a:rPr sz="2000" dirty="0"/>
              <a:t> target </a:t>
            </a:r>
            <a:r>
              <a:rPr sz="2000" dirty="0" err="1"/>
              <a:t>riprovando</a:t>
            </a:r>
            <a:r>
              <a:rPr sz="2000" dirty="0"/>
              <a:t> </a:t>
            </a:r>
            <a:r>
              <a:rPr sz="2000" dirty="0" err="1"/>
              <a:t>autonomamente</a:t>
            </a:r>
            <a:r>
              <a:rPr sz="2000" dirty="0"/>
              <a:t>, </a:t>
            </a:r>
            <a:r>
              <a:rPr sz="2000" dirty="0" err="1"/>
              <a:t>garantendo</a:t>
            </a:r>
            <a:r>
              <a:rPr sz="2000" dirty="0"/>
              <a:t> </a:t>
            </a:r>
            <a:r>
              <a:rPr sz="2000" dirty="0" err="1"/>
              <a:t>il</a:t>
            </a:r>
            <a:r>
              <a:rPr sz="2000" dirty="0"/>
              <a:t> </a:t>
            </a:r>
            <a:r>
              <a:rPr sz="2000" dirty="0" err="1"/>
              <a:t>completamento</a:t>
            </a:r>
            <a:r>
              <a:rPr sz="2000" dirty="0"/>
              <a:t> del batch.</a:t>
            </a:r>
            <a:endParaRPr lang="it-IT" sz="2000" dirty="0"/>
          </a:p>
          <a:p>
            <a:r>
              <a:rPr lang="it-IT" sz="2000" dirty="0"/>
              <a:t>Estrazione e stampa automatizzata dei PDL ad uso contabile: azzera il tempo perso per filtrare, unire o rimuovere manualmente le pagine superflue.</a:t>
            </a: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Focus: </a:t>
            </a:r>
            <a:r>
              <a:rPr sz="3200" dirty="0" err="1"/>
              <a:t>Automazione</a:t>
            </a:r>
            <a:r>
              <a:rPr sz="3200" dirty="0"/>
              <a:t> </a:t>
            </a:r>
            <a:r>
              <a:rPr sz="3200" dirty="0" err="1"/>
              <a:t>Massiva</a:t>
            </a:r>
            <a:r>
              <a:rPr sz="3200" dirty="0"/>
              <a:t> (</a:t>
            </a:r>
            <a:r>
              <a:rPr sz="3200" dirty="0" err="1"/>
              <a:t>Carico</a:t>
            </a:r>
            <a:r>
              <a:rPr sz="3200" dirty="0"/>
              <a:t>/</a:t>
            </a:r>
            <a:r>
              <a:rPr sz="3200" dirty="0" err="1"/>
              <a:t>Scarico</a:t>
            </a:r>
            <a:r>
              <a:rPr sz="32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Il </a:t>
            </a:r>
            <a:r>
              <a:rPr sz="2000" dirty="0" err="1"/>
              <a:t>cuore</a:t>
            </a:r>
            <a:r>
              <a:rPr sz="2000" dirty="0"/>
              <a:t> </a:t>
            </a:r>
            <a:r>
              <a:rPr sz="2000" dirty="0" err="1"/>
              <a:t>pulsante</a:t>
            </a:r>
            <a:r>
              <a:rPr sz="2000" dirty="0"/>
              <a:t> di </a:t>
            </a:r>
            <a:r>
              <a:rPr sz="2000" dirty="0" err="1"/>
              <a:t>SyncroJob</a:t>
            </a:r>
            <a:r>
              <a:rPr sz="2000" dirty="0"/>
              <a:t> è la </a:t>
            </a:r>
            <a:r>
              <a:rPr sz="2000" dirty="0" err="1"/>
              <a:t>capacità</a:t>
            </a:r>
            <a:r>
              <a:rPr sz="2000" dirty="0"/>
              <a:t> di </a:t>
            </a:r>
            <a:r>
              <a:rPr sz="2000" dirty="0" err="1"/>
              <a:t>governare</a:t>
            </a:r>
            <a:r>
              <a:rPr sz="2000" dirty="0"/>
              <a:t> </a:t>
            </a:r>
            <a:r>
              <a:rPr sz="2000" dirty="0" err="1"/>
              <a:t>grandi</a:t>
            </a:r>
            <a:r>
              <a:rPr sz="2000" dirty="0"/>
              <a:t> </a:t>
            </a:r>
            <a:r>
              <a:rPr sz="2000" dirty="0" err="1"/>
              <a:t>moli</a:t>
            </a:r>
            <a:r>
              <a:rPr sz="2000" dirty="0"/>
              <a:t> di </a:t>
            </a:r>
            <a:r>
              <a:rPr sz="2000" dirty="0" err="1"/>
              <a:t>documenti</a:t>
            </a:r>
            <a:r>
              <a:rPr sz="2000" dirty="0"/>
              <a:t> senza click </a:t>
            </a:r>
            <a:r>
              <a:rPr sz="2000" dirty="0" err="1"/>
              <a:t>manuali</a:t>
            </a:r>
            <a:r>
              <a:rPr sz="2000" dirty="0"/>
              <a:t>:</a:t>
            </a:r>
            <a:endParaRPr lang="it-IT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dirty="0"/>
              <a:t>Scarico Aggregato: Navigazione automatica su commesse multiple per estrarre in simultanea PDF e file Excel dai portali.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2000" dirty="0"/>
              <a:t>Carico Automatizzato: Iniezione dei dati approvati (inserimenti massicci) direttamente nelle griglie del portale ISAB.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 err="1"/>
              <a:t>Vantaggio</a:t>
            </a:r>
            <a:r>
              <a:rPr sz="2000" dirty="0"/>
              <a:t> </a:t>
            </a:r>
            <a:r>
              <a:rPr sz="2000" dirty="0" err="1"/>
              <a:t>Netto</a:t>
            </a:r>
            <a:r>
              <a:rPr sz="2000" dirty="0"/>
              <a:t>: </a:t>
            </a:r>
            <a:r>
              <a:rPr sz="2000" dirty="0" err="1"/>
              <a:t>Trasforma</a:t>
            </a:r>
            <a:r>
              <a:rPr sz="2000" dirty="0"/>
              <a:t> un </a:t>
            </a:r>
            <a:r>
              <a:rPr sz="2000" dirty="0" err="1"/>
              <a:t>intero</a:t>
            </a:r>
            <a:r>
              <a:rPr sz="2000" dirty="0"/>
              <a:t> </a:t>
            </a:r>
            <a:r>
              <a:rPr sz="2000" dirty="0" err="1"/>
              <a:t>pomeriggio</a:t>
            </a:r>
            <a:r>
              <a:rPr sz="2000" dirty="0"/>
              <a:t> di data-entry in task di </a:t>
            </a:r>
            <a:r>
              <a:rPr sz="2000" dirty="0" err="1"/>
              <a:t>pochi</a:t>
            </a:r>
            <a:r>
              <a:rPr sz="2000" dirty="0"/>
              <a:t> secondi in cui </a:t>
            </a:r>
            <a:r>
              <a:rPr sz="2000" dirty="0" err="1"/>
              <a:t>l'utente</a:t>
            </a:r>
            <a:r>
              <a:rPr sz="2000" dirty="0"/>
              <a:t> </a:t>
            </a:r>
            <a:r>
              <a:rPr sz="2000" dirty="0" err="1"/>
              <a:t>verifica</a:t>
            </a:r>
            <a:r>
              <a:rPr sz="2000" dirty="0"/>
              <a:t> solo </a:t>
            </a:r>
            <a:r>
              <a:rPr sz="2000" dirty="0" err="1"/>
              <a:t>il</a:t>
            </a:r>
            <a:r>
              <a:rPr sz="2000" dirty="0"/>
              <a:t> </a:t>
            </a:r>
            <a:r>
              <a:rPr sz="2000" dirty="0" err="1"/>
              <a:t>riepilogo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/>
              <a:t>Il Valore del Dato: </a:t>
            </a:r>
            <a:r>
              <a:rPr sz="3200" dirty="0" err="1"/>
              <a:t>L'Archivio</a:t>
            </a:r>
            <a:r>
              <a:rPr sz="3200" dirty="0"/>
              <a:t> </a:t>
            </a:r>
            <a:r>
              <a:rPr sz="3200" dirty="0" err="1"/>
              <a:t>Storico</a:t>
            </a:r>
            <a:r>
              <a:rPr sz="3200" dirty="0"/>
              <a:t> </a:t>
            </a:r>
            <a:r>
              <a:rPr sz="3200" dirty="0" err="1"/>
              <a:t>Centralizzato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28212" cy="432547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2000" dirty="0" err="1"/>
              <a:t>SyncroJob</a:t>
            </a:r>
            <a:r>
              <a:rPr sz="2000" dirty="0"/>
              <a:t> </a:t>
            </a:r>
            <a:r>
              <a:rPr sz="2000" dirty="0" err="1"/>
              <a:t>funge</a:t>
            </a:r>
            <a:r>
              <a:rPr sz="2000" dirty="0"/>
              <a:t> da </a:t>
            </a:r>
            <a:r>
              <a:rPr sz="2000" dirty="0" err="1"/>
              <a:t>vero</a:t>
            </a:r>
            <a:r>
              <a:rPr sz="2000" dirty="0"/>
              <a:t> e proprio Data Warehouse </a:t>
            </a:r>
            <a:r>
              <a:rPr sz="2000" dirty="0" err="1"/>
              <a:t>interno</a:t>
            </a:r>
            <a:r>
              <a:rPr sz="2000" dirty="0"/>
              <a:t> per le </a:t>
            </a:r>
            <a:r>
              <a:rPr sz="2000" dirty="0" err="1"/>
              <a:t>attività</a:t>
            </a:r>
            <a:r>
              <a:rPr sz="2000" dirty="0"/>
              <a:t> di </a:t>
            </a:r>
            <a:r>
              <a:rPr sz="2000" dirty="0" err="1"/>
              <a:t>commessa</a:t>
            </a:r>
            <a:r>
              <a:rPr sz="20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 err="1"/>
              <a:t>Tutti</a:t>
            </a:r>
            <a:r>
              <a:rPr sz="2000" dirty="0"/>
              <a:t> </a:t>
            </a:r>
            <a:r>
              <a:rPr sz="2000" dirty="0" err="1"/>
              <a:t>i</a:t>
            </a:r>
            <a:r>
              <a:rPr sz="2000" dirty="0"/>
              <a:t> file </a:t>
            </a:r>
            <a:r>
              <a:rPr sz="2000" dirty="0" err="1"/>
              <a:t>processati</a:t>
            </a:r>
            <a:r>
              <a:rPr sz="2000" dirty="0"/>
              <a:t> (</a:t>
            </a:r>
            <a:r>
              <a:rPr sz="2000" dirty="0" err="1"/>
              <a:t>scaricati</a:t>
            </a:r>
            <a:r>
              <a:rPr sz="2000" dirty="0"/>
              <a:t> o </a:t>
            </a:r>
            <a:r>
              <a:rPr sz="2000" dirty="0" err="1"/>
              <a:t>caricati</a:t>
            </a:r>
            <a:r>
              <a:rPr sz="2000" dirty="0"/>
              <a:t>) </a:t>
            </a:r>
            <a:r>
              <a:rPr sz="2000" dirty="0" err="1"/>
              <a:t>vengono</a:t>
            </a:r>
            <a:r>
              <a:rPr sz="2000" dirty="0"/>
              <a:t> </a:t>
            </a:r>
            <a:r>
              <a:rPr sz="2000" dirty="0" err="1"/>
              <a:t>indicizzati</a:t>
            </a:r>
            <a:r>
              <a:rPr sz="2000" dirty="0"/>
              <a:t> e </a:t>
            </a:r>
            <a:r>
              <a:rPr sz="2000" dirty="0" err="1"/>
              <a:t>salvati</a:t>
            </a:r>
            <a:r>
              <a:rPr sz="2000" dirty="0"/>
              <a:t> in tempo </a:t>
            </a:r>
            <a:r>
              <a:rPr sz="2000" dirty="0" err="1"/>
              <a:t>reale</a:t>
            </a:r>
            <a:r>
              <a:rPr sz="2000" dirty="0"/>
              <a:t> in un </a:t>
            </a:r>
            <a:r>
              <a:rPr sz="2000" dirty="0" err="1"/>
              <a:t>archivio</a:t>
            </a:r>
            <a:r>
              <a:rPr sz="2000" dirty="0"/>
              <a:t> locale </a:t>
            </a:r>
            <a:r>
              <a:rPr sz="2000" dirty="0" err="1"/>
              <a:t>sicuro</a:t>
            </a:r>
            <a:r>
              <a:rPr sz="20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/>
              <a:t>Audit Trail </a:t>
            </a:r>
            <a:r>
              <a:rPr sz="2000" dirty="0" err="1"/>
              <a:t>Immutabile</a:t>
            </a:r>
            <a:r>
              <a:rPr sz="2000" dirty="0"/>
              <a:t>: </a:t>
            </a:r>
            <a:r>
              <a:rPr sz="2000" dirty="0" err="1"/>
              <a:t>Ogni</a:t>
            </a:r>
            <a:r>
              <a:rPr sz="2000" dirty="0"/>
              <a:t> </a:t>
            </a:r>
            <a:r>
              <a:rPr sz="2000" dirty="0" err="1"/>
              <a:t>singola</a:t>
            </a:r>
            <a:r>
              <a:rPr sz="2000" dirty="0"/>
              <a:t> </a:t>
            </a:r>
            <a:r>
              <a:rPr sz="2000" dirty="0" err="1"/>
              <a:t>azione</a:t>
            </a:r>
            <a:r>
              <a:rPr sz="2000" dirty="0"/>
              <a:t> </a:t>
            </a:r>
            <a:r>
              <a:rPr sz="2000" dirty="0" err="1"/>
              <a:t>eseguita</a:t>
            </a:r>
            <a:r>
              <a:rPr sz="2000" dirty="0"/>
              <a:t> dal team è </a:t>
            </a:r>
            <a:r>
              <a:rPr sz="2000" dirty="0" err="1"/>
              <a:t>loggata</a:t>
            </a:r>
            <a:r>
              <a:rPr sz="2000" dirty="0"/>
              <a:t>. </a:t>
            </a:r>
            <a:r>
              <a:rPr sz="2000" dirty="0" err="1"/>
              <a:t>Sappiamo</a:t>
            </a:r>
            <a:r>
              <a:rPr sz="2000" dirty="0"/>
              <a:t> </a:t>
            </a:r>
            <a:r>
              <a:rPr sz="2000" dirty="0" err="1"/>
              <a:t>esattamente</a:t>
            </a:r>
            <a:r>
              <a:rPr sz="2000" dirty="0"/>
              <a:t> 'chi' ha </a:t>
            </a:r>
            <a:r>
              <a:rPr sz="2000" dirty="0" err="1"/>
              <a:t>lanciato</a:t>
            </a:r>
            <a:r>
              <a:rPr sz="2000" dirty="0"/>
              <a:t> </a:t>
            </a:r>
            <a:r>
              <a:rPr sz="2000" dirty="0" err="1"/>
              <a:t>un'automazione</a:t>
            </a:r>
            <a:r>
              <a:rPr sz="2000" dirty="0"/>
              <a:t> e '</a:t>
            </a:r>
            <a:r>
              <a:rPr sz="2000" dirty="0" err="1"/>
              <a:t>quando</a:t>
            </a:r>
            <a:r>
              <a:rPr sz="2000" dirty="0"/>
              <a:t>'.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 err="1"/>
              <a:t>Protezione</a:t>
            </a:r>
            <a:r>
              <a:rPr sz="2000" dirty="0"/>
              <a:t> del Know-How: I </a:t>
            </a:r>
            <a:r>
              <a:rPr sz="2000" dirty="0" err="1"/>
              <a:t>dati</a:t>
            </a:r>
            <a:r>
              <a:rPr sz="2000" dirty="0"/>
              <a:t> non </a:t>
            </a:r>
            <a:r>
              <a:rPr sz="2000" dirty="0" err="1"/>
              <a:t>risiedono</a:t>
            </a:r>
            <a:r>
              <a:rPr sz="2000" dirty="0"/>
              <a:t> </a:t>
            </a:r>
            <a:r>
              <a:rPr sz="2000" dirty="0" err="1"/>
              <a:t>più</a:t>
            </a:r>
            <a:r>
              <a:rPr sz="2000" dirty="0"/>
              <a:t> </a:t>
            </a:r>
            <a:r>
              <a:rPr sz="2000" dirty="0" err="1"/>
              <a:t>nei</a:t>
            </a:r>
            <a:r>
              <a:rPr sz="2000" dirty="0"/>
              <a:t> </a:t>
            </a:r>
            <a:r>
              <a:rPr sz="2000" dirty="0" err="1"/>
              <a:t>portali</a:t>
            </a:r>
            <a:r>
              <a:rPr sz="2000" dirty="0"/>
              <a:t> </a:t>
            </a:r>
            <a:r>
              <a:rPr sz="2000" dirty="0" err="1"/>
              <a:t>esterni</a:t>
            </a:r>
            <a:r>
              <a:rPr sz="2000" dirty="0"/>
              <a:t> o </a:t>
            </a:r>
            <a:r>
              <a:rPr sz="2000" dirty="0" err="1"/>
              <a:t>nelle</a:t>
            </a:r>
            <a:r>
              <a:rPr sz="2000" dirty="0"/>
              <a:t> </a:t>
            </a:r>
            <a:r>
              <a:rPr sz="2000" dirty="0" err="1"/>
              <a:t>caselle</a:t>
            </a:r>
            <a:r>
              <a:rPr sz="2000" dirty="0"/>
              <a:t> di </a:t>
            </a:r>
            <a:r>
              <a:rPr sz="2000" dirty="0" err="1"/>
              <a:t>posta</a:t>
            </a:r>
            <a:r>
              <a:rPr sz="2000" dirty="0"/>
              <a:t>, ma </a:t>
            </a:r>
            <a:r>
              <a:rPr sz="2000" dirty="0" err="1"/>
              <a:t>costituiscono</a:t>
            </a:r>
            <a:r>
              <a:rPr sz="2000" dirty="0"/>
              <a:t> </a:t>
            </a:r>
            <a:r>
              <a:rPr sz="2000" dirty="0" err="1"/>
              <a:t>patrimonio</a:t>
            </a:r>
            <a:r>
              <a:rPr sz="2000" dirty="0"/>
              <a:t> </a:t>
            </a:r>
            <a:r>
              <a:rPr sz="2000" dirty="0" err="1"/>
              <a:t>aziendale</a:t>
            </a:r>
            <a:r>
              <a:rPr sz="2000" dirty="0"/>
              <a:t> </a:t>
            </a:r>
            <a:r>
              <a:rPr sz="2000" dirty="0" err="1"/>
              <a:t>consultabile</a:t>
            </a:r>
            <a:r>
              <a:rPr sz="2000" dirty="0"/>
              <a:t>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 err="1"/>
              <a:t>Benefici</a:t>
            </a:r>
            <a:r>
              <a:rPr sz="3200" dirty="0"/>
              <a:t> per </a:t>
            </a:r>
            <a:r>
              <a:rPr sz="3200" dirty="0" err="1"/>
              <a:t>l'Azienda</a:t>
            </a:r>
            <a:r>
              <a:rPr sz="3200" dirty="0"/>
              <a:t> (ROI </a:t>
            </a:r>
            <a:r>
              <a:rPr sz="3200" dirty="0" err="1"/>
              <a:t>Operativo</a:t>
            </a:r>
            <a:r>
              <a:rPr sz="32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2000" dirty="0" err="1"/>
              <a:t>L'adozione</a:t>
            </a:r>
            <a:r>
              <a:rPr sz="2000" dirty="0"/>
              <a:t> </a:t>
            </a:r>
            <a:r>
              <a:rPr sz="2000" dirty="0" err="1"/>
              <a:t>interna</a:t>
            </a:r>
            <a:r>
              <a:rPr sz="2000" dirty="0"/>
              <a:t> di </a:t>
            </a:r>
            <a:r>
              <a:rPr sz="2000" dirty="0" err="1"/>
              <a:t>SyncroJob</a:t>
            </a:r>
            <a:r>
              <a:rPr sz="2000" dirty="0"/>
              <a:t> ci </a:t>
            </a:r>
            <a:r>
              <a:rPr sz="2000" dirty="0" err="1"/>
              <a:t>consente</a:t>
            </a:r>
            <a:r>
              <a:rPr sz="2000" dirty="0"/>
              <a:t> di </a:t>
            </a:r>
            <a:r>
              <a:rPr sz="2000" dirty="0" err="1"/>
              <a:t>ottenere</a:t>
            </a:r>
            <a:r>
              <a:rPr sz="2000" dirty="0"/>
              <a:t> </a:t>
            </a:r>
            <a:r>
              <a:rPr sz="2000" dirty="0" err="1"/>
              <a:t>risultati</a:t>
            </a:r>
            <a:r>
              <a:rPr sz="2000" dirty="0"/>
              <a:t> </a:t>
            </a:r>
            <a:r>
              <a:rPr sz="2000" dirty="0" err="1"/>
              <a:t>netti</a:t>
            </a:r>
            <a:r>
              <a:rPr sz="2000" dirty="0"/>
              <a:t> </a:t>
            </a:r>
            <a:r>
              <a:rPr sz="2000" dirty="0" err="1"/>
              <a:t>scalabili</a:t>
            </a:r>
            <a:r>
              <a:rPr sz="20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 err="1"/>
              <a:t>Recupero</a:t>
            </a:r>
            <a:r>
              <a:rPr sz="2000" dirty="0"/>
              <a:t> </a:t>
            </a:r>
            <a:r>
              <a:rPr sz="2000" dirty="0" err="1"/>
              <a:t>delle</a:t>
            </a:r>
            <a:r>
              <a:rPr sz="2000" dirty="0"/>
              <a:t> ore-</a:t>
            </a:r>
            <a:r>
              <a:rPr sz="2000" dirty="0" err="1"/>
              <a:t>uomo</a:t>
            </a:r>
            <a:r>
              <a:rPr sz="2000" dirty="0"/>
              <a:t> (FTE) </a:t>
            </a:r>
            <a:r>
              <a:rPr sz="2000" dirty="0" err="1"/>
              <a:t>impiegate</a:t>
            </a:r>
            <a:r>
              <a:rPr sz="2000" dirty="0"/>
              <a:t> </a:t>
            </a:r>
            <a:r>
              <a:rPr sz="2000" dirty="0" err="1"/>
              <a:t>finora</a:t>
            </a:r>
            <a:r>
              <a:rPr sz="2000" dirty="0"/>
              <a:t> in data entry puro.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 err="1"/>
              <a:t>Aumento</a:t>
            </a:r>
            <a:r>
              <a:rPr sz="2000" dirty="0"/>
              <a:t> </a:t>
            </a:r>
            <a:r>
              <a:rPr sz="2000" dirty="0" err="1"/>
              <a:t>dell'affidabilità</a:t>
            </a:r>
            <a:r>
              <a:rPr sz="2000" dirty="0"/>
              <a:t> </a:t>
            </a:r>
            <a:r>
              <a:rPr sz="2000" dirty="0" err="1"/>
              <a:t>dei</a:t>
            </a:r>
            <a:r>
              <a:rPr sz="2000" dirty="0"/>
              <a:t> </a:t>
            </a:r>
            <a:r>
              <a:rPr sz="2000" dirty="0" err="1"/>
              <a:t>flussi</a:t>
            </a:r>
            <a:r>
              <a:rPr sz="2000" dirty="0"/>
              <a:t> </a:t>
            </a:r>
            <a:r>
              <a:rPr sz="2000" dirty="0" err="1"/>
              <a:t>documentali</a:t>
            </a:r>
            <a:r>
              <a:rPr sz="2000" dirty="0"/>
              <a:t> </a:t>
            </a:r>
            <a:r>
              <a:rPr sz="2000" dirty="0" err="1"/>
              <a:t>scambiati</a:t>
            </a:r>
            <a:r>
              <a:rPr sz="2000" dirty="0"/>
              <a:t> con la </a:t>
            </a:r>
            <a:r>
              <a:rPr sz="2000" dirty="0" err="1"/>
              <a:t>committenza</a:t>
            </a:r>
            <a:r>
              <a:rPr sz="20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sz="2000" dirty="0" err="1"/>
              <a:t>Possesso</a:t>
            </a:r>
            <a:r>
              <a:rPr sz="2000" dirty="0"/>
              <a:t> del </a:t>
            </a:r>
            <a:r>
              <a:rPr sz="2000" dirty="0" err="1"/>
              <a:t>dato</a:t>
            </a:r>
            <a:r>
              <a:rPr sz="2000" dirty="0"/>
              <a:t>: </a:t>
            </a:r>
            <a:r>
              <a:rPr sz="2000" dirty="0" err="1"/>
              <a:t>L'azienda</a:t>
            </a:r>
            <a:r>
              <a:rPr sz="2000" dirty="0"/>
              <a:t> </a:t>
            </a:r>
            <a:r>
              <a:rPr sz="2000" dirty="0" err="1"/>
              <a:t>si</a:t>
            </a:r>
            <a:r>
              <a:rPr sz="2000" dirty="0"/>
              <a:t> </a:t>
            </a:r>
            <a:r>
              <a:rPr sz="2000" dirty="0" err="1"/>
              <a:t>appropria</a:t>
            </a:r>
            <a:r>
              <a:rPr sz="2000" dirty="0"/>
              <a:t> </a:t>
            </a:r>
            <a:r>
              <a:rPr sz="2000" dirty="0" err="1"/>
              <a:t>della</a:t>
            </a:r>
            <a:r>
              <a:rPr sz="2000" dirty="0"/>
              <a:t> </a:t>
            </a:r>
            <a:r>
              <a:rPr sz="2000" dirty="0" err="1"/>
              <a:t>storicità</a:t>
            </a:r>
            <a:r>
              <a:rPr sz="2000" dirty="0"/>
              <a:t> </a:t>
            </a:r>
            <a:r>
              <a:rPr sz="2000" dirty="0" err="1"/>
              <a:t>delle</a:t>
            </a:r>
            <a:r>
              <a:rPr sz="2000" dirty="0"/>
              <a:t> </a:t>
            </a:r>
            <a:r>
              <a:rPr sz="2000" dirty="0" err="1"/>
              <a:t>proprie</a:t>
            </a:r>
            <a:r>
              <a:rPr sz="2000" dirty="0"/>
              <a:t> </a:t>
            </a:r>
            <a:r>
              <a:rPr sz="2000" dirty="0" err="1"/>
              <a:t>informazioni</a:t>
            </a:r>
            <a:r>
              <a:rPr sz="2000" dirty="0"/>
              <a:t> in un </a:t>
            </a:r>
            <a:r>
              <a:rPr sz="2000" dirty="0" err="1"/>
              <a:t>formato</a:t>
            </a:r>
            <a:r>
              <a:rPr sz="2000" dirty="0"/>
              <a:t> </a:t>
            </a:r>
            <a:r>
              <a:rPr sz="2000" dirty="0" err="1"/>
              <a:t>leggibile</a:t>
            </a:r>
            <a:r>
              <a:rPr sz="2000" dirty="0"/>
              <a:t>, </a:t>
            </a:r>
            <a:r>
              <a:rPr sz="2000" dirty="0" err="1"/>
              <a:t>organizzato</a:t>
            </a:r>
            <a:r>
              <a:rPr sz="2000" dirty="0"/>
              <a:t> e </a:t>
            </a:r>
            <a:r>
              <a:rPr sz="2000" dirty="0" err="1"/>
              <a:t>strutturato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530</Words>
  <Application>Microsoft Office PowerPoint</Application>
  <PresentationFormat>Presentazione su schermo (4:3)</PresentationFormat>
  <Paragraphs>35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SyncroJob</vt:lpstr>
      <vt:lpstr>Il Contesto: I Limiti dell'Operatività Manuale</vt:lpstr>
      <vt:lpstr>Analisi del Problema Operativo</vt:lpstr>
      <vt:lpstr>La Soluzione: Architettura RPA (Bot)</vt:lpstr>
      <vt:lpstr>Focus: Automazione Massiva (Carico/Scarico)</vt:lpstr>
      <vt:lpstr>Il Valore del Dato: L'Archivio Storico Centralizzato</vt:lpstr>
      <vt:lpstr>Benefici per l'Azienda (ROI Operativo)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SyncroJob</dc:title>
  <dc:subject/>
  <dc:creator/>
  <cp:keywords/>
  <dc:description>generated using python-pptx</dc:description>
  <cp:lastModifiedBy>Giancarlo Allegretti</cp:lastModifiedBy>
  <cp:revision>4</cp:revision>
  <dcterms:created xsi:type="dcterms:W3CDTF">2013-01-27T09:14:16Z</dcterms:created>
  <dcterms:modified xsi:type="dcterms:W3CDTF">2026-03-10T10:39:41Z</dcterms:modified>
  <cp:category/>
</cp:coreProperties>
</file>